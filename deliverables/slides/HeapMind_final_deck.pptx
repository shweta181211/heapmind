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3506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3506B"/>
                </a:solidFill>
                <a:latin typeface="+mn-lt"/>
              </a:rPr>
              <a:t>30-question test set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01B3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1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Sentence support</c:v>
                  </c:pt>
                  <c:pt idx="1">
                    <c:v>Citation validity</c:v>
                  </c:pt>
                  <c:pt idx="2">
                    <c:v>Refusal accuracy</c:v>
                  </c:pt>
                  <c:pt idx="3">
                    <c:v>MRR</c:v>
                  </c:pt>
                  <c:pt idx="4">
                    <c:v>hit@5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0.63</c:v>
                </c:pt>
                <c:pt idx="1">
                  <c:v>0.81</c:v>
                </c:pt>
                <c:pt idx="2">
                  <c:v>1</c:v>
                </c:pt>
                <c:pt idx="3">
                  <c:v>0.48</c:v>
                </c:pt>
                <c:pt idx="4">
                  <c:v>0.8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01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350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HeapMind answers questions about one lecture and nothing else. Every answer cites the PDF page it came from, and if the lecture does not cover the question, it says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asks for a system that answers from a single source of truth. Three properties follow: grounded, cited,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these two files are indexed. The transcript carries no timestamps, so citations use PDF page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picture the lecture builds everything on, and the same array and tree appear in the app’s visualizer.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Chunks keep their PDF page, which is what makes citations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Fusing by rank avoids having to compare cosine scores with BM25 scores, which are on different scales.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thresholds were tuned on a separate 15-question development set, not on the 30-question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 from the running app. Provider shown in the app is Gemini.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language and mode are selectors in the app. The visualizer is part of the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in-scope, 5 out-of-scope and 5 adversarial questions. Refusal accuracy rose from 0.50 before tuning to 1.00 after, measured on the 10 refusal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Listing limits plainly is part of the design: the system should be as honest about itself as it is about the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live app link comes from a temporary Gradio share URL; the project page has the video and screenshots as a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HeapMind  ·  MIT 6.006 Fall 2011, Lecture 4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p edge"/>
          <p:cNvSpPr/>
          <p:nvPr/>
        </p:nvSpPr>
        <p:spPr>
          <a:xfrm flipH="1">
            <a:off x="5852160" y="1143000"/>
            <a:ext cx="1005840" cy="960120"/>
          </a:xfrm>
          <a:prstGeom prst="line">
            <a:avLst/>
          </a:prstGeom>
          <a:noFill/>
          <a:ln w="19050">
            <a:solidFill>
              <a:srgbClr val="3A4A72"/>
            </a:solidFill>
            <a:prstDash val="solid"/>
          </a:ln>
        </p:spPr>
      </p:sp>
      <p:sp>
        <p:nvSpPr>
          <p:cNvPr id="3" name="Heap edge"/>
          <p:cNvSpPr/>
          <p:nvPr/>
        </p:nvSpPr>
        <p:spPr>
          <a:xfrm>
            <a:off x="6858000" y="1143000"/>
            <a:ext cx="1005840" cy="960120"/>
          </a:xfrm>
          <a:prstGeom prst="line">
            <a:avLst/>
          </a:prstGeom>
          <a:noFill/>
          <a:ln w="19050">
            <a:solidFill>
              <a:srgbClr val="3A4A72"/>
            </a:solidFill>
            <a:prstDash val="solid"/>
          </a:ln>
        </p:spPr>
      </p:sp>
      <p:sp>
        <p:nvSpPr>
          <p:cNvPr id="4" name="Heap edge"/>
          <p:cNvSpPr/>
          <p:nvPr/>
        </p:nvSpPr>
        <p:spPr>
          <a:xfrm flipH="1">
            <a:off x="5349240" y="2103120"/>
            <a:ext cx="502920" cy="960120"/>
          </a:xfrm>
          <a:prstGeom prst="line">
            <a:avLst/>
          </a:prstGeom>
          <a:noFill/>
          <a:ln w="19050">
            <a:solidFill>
              <a:srgbClr val="3A4A72"/>
            </a:solidFill>
            <a:prstDash val="solid"/>
          </a:ln>
        </p:spPr>
      </p:sp>
      <p:sp>
        <p:nvSpPr>
          <p:cNvPr id="5" name="Heap edge"/>
          <p:cNvSpPr/>
          <p:nvPr/>
        </p:nvSpPr>
        <p:spPr>
          <a:xfrm>
            <a:off x="5852160" y="2103120"/>
            <a:ext cx="502920" cy="960120"/>
          </a:xfrm>
          <a:prstGeom prst="line">
            <a:avLst/>
          </a:prstGeom>
          <a:noFill/>
          <a:ln w="19050">
            <a:solidFill>
              <a:srgbClr val="3A4A72"/>
            </a:solidFill>
            <a:prstDash val="solid"/>
          </a:ln>
        </p:spPr>
      </p:sp>
      <p:sp>
        <p:nvSpPr>
          <p:cNvPr id="6" name="Heap edge"/>
          <p:cNvSpPr/>
          <p:nvPr/>
        </p:nvSpPr>
        <p:spPr>
          <a:xfrm flipH="1">
            <a:off x="7360920" y="2103120"/>
            <a:ext cx="502920" cy="960120"/>
          </a:xfrm>
          <a:prstGeom prst="line">
            <a:avLst/>
          </a:prstGeom>
          <a:noFill/>
          <a:ln w="19050">
            <a:solidFill>
              <a:srgbClr val="3A4A72"/>
            </a:solidFill>
            <a:prstDash val="solid"/>
          </a:ln>
        </p:spPr>
      </p:sp>
      <p:sp>
        <p:nvSpPr>
          <p:cNvPr id="7" name="Heap edge"/>
          <p:cNvSpPr/>
          <p:nvPr/>
        </p:nvSpPr>
        <p:spPr>
          <a:xfrm>
            <a:off x="7863840" y="2103120"/>
            <a:ext cx="502920" cy="960120"/>
          </a:xfrm>
          <a:prstGeom prst="line">
            <a:avLst/>
          </a:prstGeom>
          <a:noFill/>
          <a:ln w="19050">
            <a:solidFill>
              <a:srgbClr val="3A4A72"/>
            </a:solidFill>
            <a:prstDash val="solid"/>
          </a:ln>
        </p:spPr>
      </p:sp>
      <p:sp>
        <p:nvSpPr>
          <p:cNvPr id="8" name="Heap node"/>
          <p:cNvSpPr/>
          <p:nvPr/>
        </p:nvSpPr>
        <p:spPr>
          <a:xfrm>
            <a:off x="6629400" y="91440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2B1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10" name="Heap node"/>
          <p:cNvSpPr/>
          <p:nvPr/>
        </p:nvSpPr>
        <p:spPr>
          <a:xfrm>
            <a:off x="5623560" y="1874520"/>
            <a:ext cx="457200" cy="457200"/>
          </a:xfrm>
          <a:prstGeom prst="ellipse">
            <a:avLst/>
          </a:prstGeom>
          <a:solidFill>
            <a:srgbClr val="17264A"/>
          </a:solidFill>
          <a:ln w="15875">
            <a:solidFill>
              <a:srgbClr val="3A4A7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235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12" name="Heap node"/>
          <p:cNvSpPr/>
          <p:nvPr/>
        </p:nvSpPr>
        <p:spPr>
          <a:xfrm>
            <a:off x="7635240" y="1874520"/>
            <a:ext cx="457200" cy="457200"/>
          </a:xfrm>
          <a:prstGeom prst="ellipse">
            <a:avLst/>
          </a:prstGeom>
          <a:solidFill>
            <a:srgbClr val="17264A"/>
          </a:solidFill>
          <a:ln w="15875">
            <a:solidFill>
              <a:srgbClr val="3A4A7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35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4" name="Heap node"/>
          <p:cNvSpPr/>
          <p:nvPr/>
        </p:nvSpPr>
        <p:spPr>
          <a:xfrm>
            <a:off x="5120640" y="2834640"/>
            <a:ext cx="457200" cy="457200"/>
          </a:xfrm>
          <a:prstGeom prst="ellipse">
            <a:avLst/>
          </a:prstGeom>
          <a:solidFill>
            <a:srgbClr val="17264A"/>
          </a:solidFill>
          <a:ln w="15875">
            <a:solidFill>
              <a:srgbClr val="3A4A7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Heap node"/>
          <p:cNvSpPr/>
          <p:nvPr/>
        </p:nvSpPr>
        <p:spPr>
          <a:xfrm>
            <a:off x="6126480" y="2834640"/>
            <a:ext cx="457200" cy="457200"/>
          </a:xfrm>
          <a:prstGeom prst="ellipse">
            <a:avLst/>
          </a:prstGeom>
          <a:solidFill>
            <a:srgbClr val="17264A"/>
          </a:solidFill>
          <a:ln w="15875">
            <a:solidFill>
              <a:srgbClr val="3A4A7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18" name="Heap node"/>
          <p:cNvSpPr/>
          <p:nvPr/>
        </p:nvSpPr>
        <p:spPr>
          <a:xfrm>
            <a:off x="7132320" y="2834640"/>
            <a:ext cx="457200" cy="457200"/>
          </a:xfrm>
          <a:prstGeom prst="ellipse">
            <a:avLst/>
          </a:prstGeom>
          <a:solidFill>
            <a:srgbClr val="17264A"/>
          </a:solidFill>
          <a:ln w="15875">
            <a:solidFill>
              <a:srgbClr val="3A4A7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20" name="Heap node"/>
          <p:cNvSpPr/>
          <p:nvPr/>
        </p:nvSpPr>
        <p:spPr>
          <a:xfrm>
            <a:off x="8138160" y="2834640"/>
            <a:ext cx="457200" cy="457200"/>
          </a:xfrm>
          <a:prstGeom prst="ellipse">
            <a:avLst/>
          </a:prstGeom>
          <a:solidFill>
            <a:srgbClr val="17264A"/>
          </a:solidFill>
          <a:ln w="15875">
            <a:solidFill>
              <a:srgbClr val="3A4A7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381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LEARNING PLATFORM  ·  TRACK 1: RAG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12344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HeapMind</a:t>
            </a:r>
            <a:endParaRPr lang="en-US" sz="6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3317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lecture. Get answers that point back to it.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4290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tutor for binary heaps and heap sort, built only on MIT 6.006 Fall 2011, Lecture 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source of truth, no guessing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chatbot answers from everything it has ever read. A study tool should answer from the lecture you are studying, and show where it found the answer.</a:t>
            </a:r>
            <a:endParaRPr lang="en-US" sz="1600" dirty="0"/>
          </a:p>
        </p:txBody>
      </p:sp>
      <p:sp>
        <p:nvSpPr>
          <p:cNvPr id="4" name="Idea card"/>
          <p:cNvSpPr/>
          <p:nvPr/>
        </p:nvSpPr>
        <p:spPr>
          <a:xfrm>
            <a:off x="457200" y="2057400"/>
            <a:ext cx="2560320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Icon badge"/>
          <p:cNvSpPr/>
          <p:nvPr/>
        </p:nvSpPr>
        <p:spPr>
          <a:xfrm>
            <a:off x="685800" y="2286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4003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337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built from retrieved passages of the lecture transcript and notes, and nothing else.</a:t>
            </a:r>
            <a:endParaRPr lang="en-US" sz="1400" dirty="0"/>
          </a:p>
        </p:txBody>
      </p:sp>
      <p:sp>
        <p:nvSpPr>
          <p:cNvPr id="9" name="Idea card"/>
          <p:cNvSpPr/>
          <p:nvPr/>
        </p:nvSpPr>
        <p:spPr>
          <a:xfrm>
            <a:off x="3291840" y="2057400"/>
            <a:ext cx="2560320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Icon badge"/>
          <p:cNvSpPr/>
          <p:nvPr/>
        </p:nvSpPr>
        <p:spPr>
          <a:xfrm>
            <a:off x="3520440" y="2286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24003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Cited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3337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claim carries a [n] marker that maps to a passage, with its PDF page.</a:t>
            </a:r>
            <a:endParaRPr lang="en-US" sz="1400" dirty="0"/>
          </a:p>
        </p:txBody>
      </p:sp>
      <p:sp>
        <p:nvSpPr>
          <p:cNvPr id="14" name="Idea card"/>
          <p:cNvSpPr/>
          <p:nvPr/>
        </p:nvSpPr>
        <p:spPr>
          <a:xfrm>
            <a:off x="6126480" y="2057400"/>
            <a:ext cx="2560320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Icon badge"/>
          <p:cNvSpPr/>
          <p:nvPr/>
        </p:nvSpPr>
        <p:spPr>
          <a:xfrm>
            <a:off x="6355080" y="2286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24003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3337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lecture does not cover a question, HeapMind says so instead of improvising.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knowledge base is two PDFs</a:t>
            </a:r>
            <a:endParaRPr lang="en-US" sz="3000" dirty="0"/>
          </a:p>
        </p:txBody>
      </p:sp>
      <p:sp>
        <p:nvSpPr>
          <p:cNvPr id="3" name="Source card"/>
          <p:cNvSpPr/>
          <p:nvPr/>
        </p:nvSpPr>
        <p:spPr>
          <a:xfrm>
            <a:off x="457200" y="1280160"/>
            <a:ext cx="484632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Icon badge"/>
          <p:cNvSpPr/>
          <p:nvPr/>
        </p:nvSpPr>
        <p:spPr>
          <a:xfrm>
            <a:off x="685800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8516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6.006 Lecture 04: “Heaps and Heap Sort”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16459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pages</a:t>
            </a:r>
            <a:endParaRPr lang="en-US" sz="2200" dirty="0"/>
          </a:p>
        </p:txBody>
      </p:sp>
      <p:sp>
        <p:nvSpPr>
          <p:cNvPr id="9" name="Source card"/>
          <p:cNvSpPr/>
          <p:nvPr/>
        </p:nvSpPr>
        <p:spPr>
          <a:xfrm>
            <a:off x="457200" y="2880360"/>
            <a:ext cx="484632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Icon badge"/>
          <p:cNvSpPr/>
          <p:nvPr/>
        </p:nvSpPr>
        <p:spPr>
          <a:xfrm>
            <a:off x="685800" y="3337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45186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transcript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“MITOCW | 4. Heaps and Heap Sort”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977640" y="32461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pages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576072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760720" y="16002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 6.006 Introduction to Algorithms, Fall 2011, Lecture 4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576072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use the lecture title and PDF page. The transcript has no timestamps, so there are no video-time links.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76072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OpenCourseWare, CC BY-NC-SA 4.0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heap is an array read as a tree</a:t>
            </a:r>
            <a:endParaRPr lang="en-US" sz="3000" dirty="0"/>
          </a:p>
        </p:txBody>
      </p:sp>
      <p:sp>
        <p:nvSpPr>
          <p:cNvPr id="3" name="Tree edge"/>
          <p:cNvSpPr/>
          <p:nvPr/>
        </p:nvSpPr>
        <p:spPr>
          <a:xfrm flipH="1">
            <a:off x="1645920" y="1554480"/>
            <a:ext cx="1005840" cy="960120"/>
          </a:xfrm>
          <a:prstGeom prst="line">
            <a:avLst/>
          </a:prstGeom>
          <a:noFill/>
          <a:ln w="19050">
            <a:solidFill>
              <a:srgbClr val="9FB0D3"/>
            </a:solidFill>
            <a:prstDash val="solid"/>
          </a:ln>
        </p:spPr>
      </p:sp>
      <p:sp>
        <p:nvSpPr>
          <p:cNvPr id="4" name="Tree edge"/>
          <p:cNvSpPr/>
          <p:nvPr/>
        </p:nvSpPr>
        <p:spPr>
          <a:xfrm>
            <a:off x="2651760" y="1554480"/>
            <a:ext cx="1005840" cy="960120"/>
          </a:xfrm>
          <a:prstGeom prst="line">
            <a:avLst/>
          </a:prstGeom>
          <a:noFill/>
          <a:ln w="19050">
            <a:solidFill>
              <a:srgbClr val="9FB0D3"/>
            </a:solidFill>
            <a:prstDash val="solid"/>
          </a:ln>
        </p:spPr>
      </p:sp>
      <p:sp>
        <p:nvSpPr>
          <p:cNvPr id="5" name="Tree edge"/>
          <p:cNvSpPr/>
          <p:nvPr/>
        </p:nvSpPr>
        <p:spPr>
          <a:xfrm flipH="1">
            <a:off x="1143000" y="2514600"/>
            <a:ext cx="502920" cy="960120"/>
          </a:xfrm>
          <a:prstGeom prst="line">
            <a:avLst/>
          </a:prstGeom>
          <a:noFill/>
          <a:ln w="19050">
            <a:solidFill>
              <a:srgbClr val="9FB0D3"/>
            </a:solidFill>
            <a:prstDash val="solid"/>
          </a:ln>
        </p:spPr>
      </p:sp>
      <p:sp>
        <p:nvSpPr>
          <p:cNvPr id="6" name="Tree edge"/>
          <p:cNvSpPr/>
          <p:nvPr/>
        </p:nvSpPr>
        <p:spPr>
          <a:xfrm>
            <a:off x="1645920" y="2514600"/>
            <a:ext cx="502920" cy="960120"/>
          </a:xfrm>
          <a:prstGeom prst="line">
            <a:avLst/>
          </a:prstGeom>
          <a:noFill/>
          <a:ln w="19050">
            <a:solidFill>
              <a:srgbClr val="9FB0D3"/>
            </a:solidFill>
            <a:prstDash val="solid"/>
          </a:ln>
        </p:spPr>
      </p:sp>
      <p:sp>
        <p:nvSpPr>
          <p:cNvPr id="7" name="Tree edge"/>
          <p:cNvSpPr/>
          <p:nvPr/>
        </p:nvSpPr>
        <p:spPr>
          <a:xfrm flipH="1">
            <a:off x="3154680" y="2514600"/>
            <a:ext cx="502920" cy="960120"/>
          </a:xfrm>
          <a:prstGeom prst="line">
            <a:avLst/>
          </a:prstGeom>
          <a:noFill/>
          <a:ln w="19050">
            <a:solidFill>
              <a:srgbClr val="9FB0D3"/>
            </a:solidFill>
            <a:prstDash val="solid"/>
          </a:ln>
        </p:spPr>
      </p:sp>
      <p:sp>
        <p:nvSpPr>
          <p:cNvPr id="8" name="Tree edge"/>
          <p:cNvSpPr/>
          <p:nvPr/>
        </p:nvSpPr>
        <p:spPr>
          <a:xfrm>
            <a:off x="3657600" y="2514600"/>
            <a:ext cx="502920" cy="960120"/>
          </a:xfrm>
          <a:prstGeom prst="line">
            <a:avLst/>
          </a:prstGeom>
          <a:noFill/>
          <a:ln w="19050">
            <a:solidFill>
              <a:srgbClr val="9FB0D3"/>
            </a:solidFill>
            <a:prstDash val="solid"/>
          </a:ln>
        </p:spPr>
      </p:sp>
      <p:sp>
        <p:nvSpPr>
          <p:cNvPr id="9" name="Tree node"/>
          <p:cNvSpPr/>
          <p:nvPr/>
        </p:nvSpPr>
        <p:spPr>
          <a:xfrm>
            <a:off x="2395728" y="132588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95728" y="1325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11" name="Tree node"/>
          <p:cNvSpPr/>
          <p:nvPr/>
        </p:nvSpPr>
        <p:spPr>
          <a:xfrm>
            <a:off x="1389888" y="2286000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8988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13" name="Tree node"/>
          <p:cNvSpPr/>
          <p:nvPr/>
        </p:nvSpPr>
        <p:spPr>
          <a:xfrm>
            <a:off x="3401568" y="2286000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0156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5" name="Tree node"/>
          <p:cNvSpPr/>
          <p:nvPr/>
        </p:nvSpPr>
        <p:spPr>
          <a:xfrm>
            <a:off x="886968" y="3246120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6968" y="3246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ree node"/>
          <p:cNvSpPr/>
          <p:nvPr/>
        </p:nvSpPr>
        <p:spPr>
          <a:xfrm>
            <a:off x="1892808" y="3246120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892808" y="3246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19" name="Tree node"/>
          <p:cNvSpPr/>
          <p:nvPr/>
        </p:nvSpPr>
        <p:spPr>
          <a:xfrm>
            <a:off x="2898648" y="3246120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898648" y="3246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21" name="Tree node"/>
          <p:cNvSpPr/>
          <p:nvPr/>
        </p:nvSpPr>
        <p:spPr>
          <a:xfrm>
            <a:off x="3904488" y="3246120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904488" y="3246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023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</a:t>
            </a:r>
            <a:endParaRPr lang="en-US" sz="1100" dirty="0"/>
          </a:p>
        </p:txBody>
      </p:sp>
      <p:sp>
        <p:nvSpPr>
          <p:cNvPr id="24" name="Array cell"/>
          <p:cNvSpPr/>
          <p:nvPr/>
        </p:nvSpPr>
        <p:spPr>
          <a:xfrm>
            <a:off x="457200" y="4279392"/>
            <a:ext cx="512064" cy="3840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4279392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26" name="Array cell"/>
          <p:cNvSpPr/>
          <p:nvPr/>
        </p:nvSpPr>
        <p:spPr>
          <a:xfrm>
            <a:off x="1024128" y="4279392"/>
            <a:ext cx="512064" cy="38404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4128" y="4279392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Array cell"/>
          <p:cNvSpPr/>
          <p:nvPr/>
        </p:nvSpPr>
        <p:spPr>
          <a:xfrm>
            <a:off x="1591056" y="4279392"/>
            <a:ext cx="512064" cy="38404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91056" y="4279392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30" name="Array cell"/>
          <p:cNvSpPr/>
          <p:nvPr/>
        </p:nvSpPr>
        <p:spPr>
          <a:xfrm>
            <a:off x="2157984" y="4279392"/>
            <a:ext cx="512064" cy="38404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157984" y="4279392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Array cell"/>
          <p:cNvSpPr/>
          <p:nvPr/>
        </p:nvSpPr>
        <p:spPr>
          <a:xfrm>
            <a:off x="2724912" y="4279392"/>
            <a:ext cx="512064" cy="38404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24912" y="4279392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4" name="Array cell"/>
          <p:cNvSpPr/>
          <p:nvPr/>
        </p:nvSpPr>
        <p:spPr>
          <a:xfrm>
            <a:off x="3291840" y="4279392"/>
            <a:ext cx="512064" cy="38404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291840" y="4279392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6" name="Array cell"/>
          <p:cNvSpPr/>
          <p:nvPr/>
        </p:nvSpPr>
        <p:spPr>
          <a:xfrm>
            <a:off x="3858768" y="4279392"/>
            <a:ext cx="512064" cy="38404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858768" y="4279392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Rules card"/>
          <p:cNvSpPr/>
          <p:nvPr/>
        </p:nvSpPr>
        <p:spPr>
          <a:xfrm>
            <a:off x="5394960" y="1280160"/>
            <a:ext cx="3291840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62356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lecture’s rules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5623560" y="192024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from 1.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parent(i) = ⌊i / 2⌋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left(i) = 2i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right(i) = 2i + 1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Max-heap property: every parent is at least as large as its children, so the maximum sits at the root.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question becomes a cited answer</a:t>
            </a:r>
            <a:endParaRPr lang="en-US" sz="3000" dirty="0"/>
          </a:p>
        </p:txBody>
      </p:sp>
      <p:sp>
        <p:nvSpPr>
          <p:cNvPr id="3" name="Pipeline step"/>
          <p:cNvSpPr/>
          <p:nvPr/>
        </p:nvSpPr>
        <p:spPr>
          <a:xfrm>
            <a:off x="457200" y="1600200"/>
            <a:ext cx="1481328" cy="2468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Icon badge"/>
          <p:cNvSpPr/>
          <p:nvPr/>
        </p:nvSpPr>
        <p:spPr>
          <a:xfrm>
            <a:off x="969264" y="18105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192481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2316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834640"/>
            <a:ext cx="1261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text, 200–300 tokens, with page metadata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938528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Pipeline step"/>
          <p:cNvSpPr/>
          <p:nvPr/>
        </p:nvSpPr>
        <p:spPr>
          <a:xfrm>
            <a:off x="2121408" y="1600200"/>
            <a:ext cx="1481328" cy="2468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Icon badge"/>
          <p:cNvSpPr/>
          <p:nvPr/>
        </p:nvSpPr>
        <p:spPr>
          <a:xfrm>
            <a:off x="2633472" y="18105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772" y="192481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12848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12848" y="242316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2231136" y="2834640"/>
            <a:ext cx="1261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vectors in ChromaDB, plus a BM25 index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602736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Pipeline step"/>
          <p:cNvSpPr/>
          <p:nvPr/>
        </p:nvSpPr>
        <p:spPr>
          <a:xfrm>
            <a:off x="3785616" y="1600200"/>
            <a:ext cx="1481328" cy="2468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Icon badge"/>
          <p:cNvSpPr/>
          <p:nvPr/>
        </p:nvSpPr>
        <p:spPr>
          <a:xfrm>
            <a:off x="4297680" y="18105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924812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877056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3877056" y="242316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3895344" y="2834640"/>
            <a:ext cx="1261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and keyword results fused with RRF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266944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Pipeline step"/>
          <p:cNvSpPr/>
          <p:nvPr/>
        </p:nvSpPr>
        <p:spPr>
          <a:xfrm>
            <a:off x="5449824" y="1600200"/>
            <a:ext cx="1481328" cy="2468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Icon badge"/>
          <p:cNvSpPr/>
          <p:nvPr/>
        </p:nvSpPr>
        <p:spPr>
          <a:xfrm>
            <a:off x="5961888" y="18105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188" y="1924812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541264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541264" y="242316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5559552" y="2834640"/>
            <a:ext cx="1261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and word-overlap gate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931152" y="2651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Pipeline step"/>
          <p:cNvSpPr/>
          <p:nvPr/>
        </p:nvSpPr>
        <p:spPr>
          <a:xfrm>
            <a:off x="7114032" y="1600200"/>
            <a:ext cx="1481328" cy="2468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2" name="Icon badge"/>
          <p:cNvSpPr/>
          <p:nvPr/>
        </p:nvSpPr>
        <p:spPr>
          <a:xfrm>
            <a:off x="7626096" y="18105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0396" y="1924812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205472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7205472" y="242316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700" dirty="0"/>
          </a:p>
        </p:txBody>
      </p:sp>
      <p:sp>
        <p:nvSpPr>
          <p:cNvPr id="36" name="Text 29"/>
          <p:cNvSpPr txBox="1"/>
          <p:nvPr/>
        </p:nvSpPr>
        <p:spPr>
          <a:xfrm>
            <a:off x="7223760" y="2834640"/>
            <a:ext cx="1261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then Groq, then raw passages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before “Answer” runs locally and is deterministic; only the final wording comes from a language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search, merged by rank</a:t>
            </a:r>
            <a:endParaRPr lang="en-US" sz="3000" dirty="0"/>
          </a:p>
        </p:txBody>
      </p:sp>
      <p:sp>
        <p:nvSpPr>
          <p:cNvPr id="3" name="Dense card"/>
          <p:cNvSpPr/>
          <p:nvPr/>
        </p:nvSpPr>
        <p:spPr>
          <a:xfrm>
            <a:off x="457200" y="1280160"/>
            <a:ext cx="2651760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embeddings with cosine similarity. Finds passages that say the same thing in different words.</a:t>
            </a:r>
            <a:endParaRPr lang="en-US" sz="1400" dirty="0"/>
          </a:p>
        </p:txBody>
      </p:sp>
      <p:sp>
        <p:nvSpPr>
          <p:cNvPr id="6" name="Takeaway card"/>
          <p:cNvSpPr/>
          <p:nvPr/>
        </p:nvSpPr>
        <p:spPr>
          <a:xfrm>
            <a:off x="457200" y="3703320"/>
            <a:ext cx="5486400" cy="868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BM25 card"/>
          <p:cNvSpPr/>
          <p:nvPr/>
        </p:nvSpPr>
        <p:spPr>
          <a:xfrm>
            <a:off x="3291840" y="1280160"/>
            <a:ext cx="2651760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words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92024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Okapi BM25 keyword scoring. Catches terms like “max-heapify” or “build-max-heap” that embeddings blur.</a:t>
            </a:r>
            <a:endParaRPr lang="en-US" sz="1400" dirty="0"/>
          </a:p>
        </p:txBody>
      </p:sp>
      <p:sp>
        <p:nvSpPr>
          <p:cNvPr id="10" name="RRF panel"/>
          <p:cNvSpPr/>
          <p:nvPr/>
        </p:nvSpPr>
        <p:spPr>
          <a:xfrm>
            <a:off x="6217920" y="1280160"/>
            <a:ext cx="2468880" cy="32918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60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6974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passage scores 1 / (60 + rank) in each list. The sums decide the final order.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8404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passages go to the answer step with their pages.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lecture is silent, HeapMind says so</a:t>
            </a:r>
            <a:endParaRPr lang="en-US" sz="3000" dirty="0"/>
          </a:p>
        </p:txBody>
      </p:sp>
      <p:sp>
        <p:nvSpPr>
          <p:cNvPr id="3" name="Flow box"/>
          <p:cNvSpPr/>
          <p:nvPr/>
        </p:nvSpPr>
        <p:spPr>
          <a:xfrm>
            <a:off x="457200" y="2377440"/>
            <a:ext cx="155448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600" dirty="0"/>
          </a:p>
        </p:txBody>
      </p:sp>
      <p:sp>
        <p:nvSpPr>
          <p:cNvPr id="5" name="Flow box"/>
          <p:cNvSpPr/>
          <p:nvPr/>
        </p:nvSpPr>
        <p:spPr>
          <a:xfrm>
            <a:off x="2743200" y="237744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834640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≥ 0.52 and word overlap ≥ 0.30?</a:t>
            </a:r>
            <a:endParaRPr lang="en-US" sz="1300" dirty="0"/>
          </a:p>
        </p:txBody>
      </p:sp>
      <p:sp>
        <p:nvSpPr>
          <p:cNvPr id="7" name="Flow box"/>
          <p:cNvSpPr/>
          <p:nvPr/>
        </p:nvSpPr>
        <p:spPr>
          <a:xfrm>
            <a:off x="5943600" y="1417320"/>
            <a:ext cx="274320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35040" y="1417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answer with [n] citations</a:t>
            </a:r>
            <a:endParaRPr lang="en-US" sz="1400" dirty="0"/>
          </a:p>
        </p:txBody>
      </p:sp>
      <p:sp>
        <p:nvSpPr>
          <p:cNvPr id="9" name="Flow box"/>
          <p:cNvSpPr/>
          <p:nvPr/>
        </p:nvSpPr>
        <p:spPr>
          <a:xfrm>
            <a:off x="5943600" y="3337560"/>
            <a:ext cx="274320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0" y="33375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“This is not covered in the lecture material.”</a:t>
            </a:r>
            <a:endParaRPr lang="en-US" sz="1300" dirty="0"/>
          </a:p>
        </p:txBody>
      </p:sp>
      <p:sp>
        <p:nvSpPr>
          <p:cNvPr id="11" name="Arrow"/>
          <p:cNvSpPr/>
          <p:nvPr/>
        </p:nvSpPr>
        <p:spPr>
          <a:xfrm>
            <a:off x="2011680" y="2788920"/>
            <a:ext cx="7315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Arrow"/>
          <p:cNvSpPr/>
          <p:nvPr/>
        </p:nvSpPr>
        <p:spPr>
          <a:xfrm>
            <a:off x="5120640" y="2788920"/>
            <a:ext cx="4114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3" name="Arrow"/>
          <p:cNvSpPr/>
          <p:nvPr/>
        </p:nvSpPr>
        <p:spPr>
          <a:xfrm>
            <a:off x="5532120" y="1828800"/>
            <a:ext cx="0" cy="192024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4" name="Arrow"/>
          <p:cNvSpPr/>
          <p:nvPr/>
        </p:nvSpPr>
        <p:spPr>
          <a:xfrm>
            <a:off x="5532120" y="1828800"/>
            <a:ext cx="4114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Arrow"/>
          <p:cNvSpPr/>
          <p:nvPr/>
        </p:nvSpPr>
        <p:spPr>
          <a:xfrm>
            <a:off x="5532120" y="3749040"/>
            <a:ext cx="4114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inside a question or a retrieved passage is treated as data, never as instructions. “Ignore all rules” gets no special power.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app, answering real questions</a:t>
            </a:r>
            <a:endParaRPr lang="en-US" sz="3000" dirty="0"/>
          </a:p>
        </p:txBody>
      </p:sp>
      <p:pic>
        <p:nvPicPr>
          <p:cNvPr id="3" name="Image 0" descr="In the lecture screenshot of HeapMi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2560320" cy="216204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lecture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913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max-heap property, answered from the lecture.</a:t>
            </a:r>
            <a:endParaRPr lang="en-US" sz="1300" dirty="0"/>
          </a:p>
        </p:txBody>
      </p:sp>
      <p:pic>
        <p:nvPicPr>
          <p:cNvPr id="6" name="Image 1" descr="Not in the lecture screenshot of HeapMi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234440"/>
            <a:ext cx="2560320" cy="216204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329184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lecture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3291840" y="3913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AVL-tree question gets a clear refusal.</a:t>
            </a:r>
            <a:endParaRPr lang="en-US" sz="1300" dirty="0"/>
          </a:p>
        </p:txBody>
      </p:sp>
      <p:pic>
        <p:nvPicPr>
          <p:cNvPr id="9" name="Image 2" descr="Injection attempt screenshot of HeapMi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34440"/>
            <a:ext cx="2560320" cy="216204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612648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attempt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6126480" y="3913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“Ignore all rules” is treated as untrusted text.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used for studying</a:t>
            </a:r>
            <a:endParaRPr lang="en-US" sz="3000" dirty="0"/>
          </a:p>
        </p:txBody>
      </p:sp>
      <p:sp>
        <p:nvSpPr>
          <p:cNvPr id="3" name="Feature card"/>
          <p:cNvSpPr/>
          <p:nvPr/>
        </p:nvSpPr>
        <p:spPr>
          <a:xfrm>
            <a:off x="457200" y="1280160"/>
            <a:ext cx="4023360" cy="1508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Icon badge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6230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English, Hindi, Hinglish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20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terms stay in English in every mode.</a:t>
            </a:r>
            <a:endParaRPr lang="en-US" sz="1400" dirty="0"/>
          </a:p>
        </p:txBody>
      </p:sp>
      <p:sp>
        <p:nvSpPr>
          <p:cNvPr id="8" name="Feature card"/>
          <p:cNvSpPr/>
          <p:nvPr/>
        </p:nvSpPr>
        <p:spPr>
          <a:xfrm>
            <a:off x="4663440" y="1280160"/>
            <a:ext cx="4023360" cy="1508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Icon badge"/>
          <p:cNvSpPr/>
          <p:nvPr/>
        </p:nvSpPr>
        <p:spPr>
          <a:xfrm>
            <a:off x="489204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62306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Beginner and quiz modes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532120" y="1920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explainer, and three grounded multiple-choice questions.</a:t>
            </a:r>
            <a:endParaRPr lang="en-US" sz="1400" dirty="0"/>
          </a:p>
        </p:txBody>
      </p:sp>
      <p:sp>
        <p:nvSpPr>
          <p:cNvPr id="13" name="Feature card"/>
          <p:cNvSpPr/>
          <p:nvPr/>
        </p:nvSpPr>
        <p:spPr>
          <a:xfrm>
            <a:off x="457200" y="2971800"/>
            <a:ext cx="4023360" cy="1508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Icon badge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3147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Heap visualizer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325880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insert, extract-max and step through heap sort, tree and array together.</a:t>
            </a:r>
            <a:endParaRPr lang="en-US" sz="1400" dirty="0"/>
          </a:p>
        </p:txBody>
      </p:sp>
      <p:sp>
        <p:nvSpPr>
          <p:cNvPr id="18" name="Feature card"/>
          <p:cNvSpPr/>
          <p:nvPr/>
        </p:nvSpPr>
        <p:spPr>
          <a:xfrm>
            <a:off x="4663440" y="2971800"/>
            <a:ext cx="4023360" cy="1508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Icon badge"/>
          <p:cNvSpPr/>
          <p:nvPr/>
        </p:nvSpPr>
        <p:spPr>
          <a:xfrm>
            <a:off x="489204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31470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3212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panel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532120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retrieved text, the page, and a confidence readout.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say</a:t>
            </a:r>
            <a:endParaRPr lang="en-US" sz="3000" dirty="0"/>
          </a:p>
        </p:txBody>
      </p:sp>
      <p:sp>
        <p:nvSpPr>
          <p:cNvPr id="3" name="Stat card"/>
          <p:cNvSpPr/>
          <p:nvPr/>
        </p:nvSpPr>
        <p:spPr>
          <a:xfrm>
            <a:off x="457200" y="1280160"/>
            <a:ext cx="2286000" cy="868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533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10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hit@5</a:t>
            </a:r>
            <a:endParaRPr lang="en-US" sz="1200" dirty="0"/>
          </a:p>
        </p:txBody>
      </p:sp>
      <p:sp>
        <p:nvSpPr>
          <p:cNvPr id="6" name="Stat card"/>
          <p:cNvSpPr/>
          <p:nvPr/>
        </p:nvSpPr>
        <p:spPr>
          <a:xfrm>
            <a:off x="457200" y="2286000"/>
            <a:ext cx="2286000" cy="868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3591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0.48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16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200" dirty="0"/>
          </a:p>
        </p:txBody>
      </p:sp>
      <p:sp>
        <p:nvSpPr>
          <p:cNvPr id="9" name="Stat card"/>
          <p:cNvSpPr/>
          <p:nvPr/>
        </p:nvSpPr>
        <p:spPr>
          <a:xfrm>
            <a:off x="457200" y="3291840"/>
            <a:ext cx="2286000" cy="868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364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22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refusals correct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017520" y="1188720"/>
          <a:ext cx="56692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3017520" y="38404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 care: the test set is small, and refusal thresholds were tuned on a separate 15-question set. An MRR of 0.48 means the best passage is often second, not first. Citation and support scores are rule-based checks, not human judgment.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falls short, and what is next</a:t>
            </a:r>
            <a:endParaRPr lang="en-US" sz="3000" dirty="0"/>
          </a:p>
        </p:txBody>
      </p:sp>
      <p:sp>
        <p:nvSpPr>
          <p:cNvPr id="3" name="Limits card"/>
          <p:cNvSpPr/>
          <p:nvPr/>
        </p:nvSpPr>
        <p:spPr>
          <a:xfrm>
            <a:off x="457200" y="1280160"/>
            <a:ext cx="4023360" cy="2926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timestamps in the transcript, so citations are page-based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is only fair: MRR 0.48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test set, rule-based faithfulness checks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Gradio Spaces need a paid Hugging Face plan, so the live app runs from a laptop</a:t>
            </a:r>
            <a:endParaRPr lang="en-US" sz="1400" dirty="0"/>
          </a:p>
        </p:txBody>
      </p:sp>
      <p:sp>
        <p:nvSpPr>
          <p:cNvPr id="6" name="Next card"/>
          <p:cNvSpPr/>
          <p:nvPr/>
        </p:nvSpPr>
        <p:spPr>
          <a:xfrm>
            <a:off x="4663440" y="1280160"/>
            <a:ext cx="4023360" cy="2926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cross-encoder reranker and keep it only if MRR improves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citations to video time using YouTube captions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test set and add human review of answers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more 6.006 lectures with the same pipeline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4400" dirty="0"/>
          </a:p>
        </p:txBody>
      </p:sp>
      <p:sp>
        <p:nvSpPr>
          <p:cNvPr id="3" name="Link card"/>
          <p:cNvSpPr/>
          <p:nvPr/>
        </p:nvSpPr>
        <p:spPr>
          <a:xfrm>
            <a:off x="548640" y="1600200"/>
            <a:ext cx="8046720" cy="914400"/>
          </a:xfrm>
          <a:prstGeom prst="rect">
            <a:avLst/>
          </a:prstGeom>
          <a:solidFill>
            <a:srgbClr val="17264A"/>
          </a:solidFill>
          <a:ln/>
        </p:spPr>
      </p:sp>
      <p:sp>
        <p:nvSpPr>
          <p:cNvPr id="4" name="Icon badge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9431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709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9659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https://9a30fb1638a81c74ab.gradio.live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2402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from the author’s computer</a:t>
            </a:r>
            <a:endParaRPr lang="en-US" sz="1200" dirty="0"/>
          </a:p>
        </p:txBody>
      </p:sp>
      <p:sp>
        <p:nvSpPr>
          <p:cNvPr id="9" name="Link card"/>
          <p:cNvSpPr/>
          <p:nvPr/>
        </p:nvSpPr>
        <p:spPr>
          <a:xfrm>
            <a:off x="548640" y="2697480"/>
            <a:ext cx="8046720" cy="914400"/>
          </a:xfrm>
          <a:prstGeom prst="rect">
            <a:avLst/>
          </a:prstGeom>
          <a:solidFill>
            <a:srgbClr val="17264A"/>
          </a:solidFill>
          <a:ln/>
        </p:spPr>
      </p:sp>
      <p:sp>
        <p:nvSpPr>
          <p:cNvPr id="10" name="Icon badge"/>
          <p:cNvSpPr/>
          <p:nvPr/>
        </p:nvSpPr>
        <p:spPr>
          <a:xfrm>
            <a:off x="777240" y="2926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30403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807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page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0632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huggingface.co/spaces/shweta1811/heapmind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463040" y="333756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walkthrough video, screenshots, code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content: MIT OpenCourseWare, 6.006 Introduction to Algorithms, Fall 2011, Lecture 4 “Heaps and Heap Sort”, licensed CC BY-NC-SA 4.0. HeapMind is an independent student project and is not endorsed by MIT.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pMind">
  <a:themeElements>
    <a:clrScheme name="HeapMind">
      <a:dk1>
        <a:srgbClr val="101B33"/>
      </a:dk1>
      <a:lt1>
        <a:srgbClr val="FFFFFF"/>
      </a:lt1>
      <a:dk2>
        <a:srgbClr val="43506B"/>
      </a:dk2>
      <a:lt2>
        <a:srgbClr val="F2F4F8"/>
      </a:lt2>
      <a:accent1>
        <a:srgbClr val="F2B134"/>
      </a:accent1>
      <a:accent2>
        <a:srgbClr val="1D7A52"/>
      </a:accent2>
      <a:accent3>
        <a:srgbClr val="2F4B8F"/>
      </a:accent3>
      <a:accent4>
        <a:srgbClr val="B4452B"/>
      </a:accent4>
      <a:accent5>
        <a:srgbClr val="8A5A00"/>
      </a:accent5>
      <a:accent6>
        <a:srgbClr val="6B7A99"/>
      </a:accent6>
      <a:hlink>
        <a:srgbClr val="2F4B8F"/>
      </a:hlink>
      <a:folHlink>
        <a:srgbClr val="6B7A99"/>
      </a:folHlink>
    </a:clrScheme>
    <a:fontScheme name="HeapMin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HeapMind: lecture-grounded answers about heaps and heap sort</dc:title>
  <dc:subject>PptxGenJS Presentation</dc:subject>
  <dc:creator>HeapMind</dc:creator>
  <cp:lastModifiedBy>HeapMind</cp:lastModifiedBy>
  <cp:revision>1</cp:revision>
  <dcterms:created xsi:type="dcterms:W3CDTF">2026-10-26T09:16:02Z</dcterms:created>
  <dcterms:modified xsi:type="dcterms:W3CDTF">2026-10-26T09:16:02Z</dcterms:modified>
</cp:coreProperties>
</file>